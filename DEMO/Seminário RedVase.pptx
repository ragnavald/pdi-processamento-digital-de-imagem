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aa7b87c83_0_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aa7b87c83_0_2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a7b87c8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aa7b87c8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a7b87c83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a7b87c83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b138e84d4_0_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138e84d4_0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aa7b87c83_0_15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aa7b87c83_0_8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a7b87c83_0_9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a7b87c83_0_13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aa7b87c83_0_1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aa7b87c83_0_17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aa7b87c83_9_0)">
  <p:cSld name="Generated (g3daa7b87c83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hyperlink" Target="http://drive.google.com/file/d/12cKx2NjI0KQuW6BPwB6Ukhn6pIaBqKjd/view" TargetMode="External"/><Relationship Id="rId6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quality, professional background showing a close-up texture of industrial ceramic or clay surface with subtle technical overlays like digital grid lines or scanning beams. Dark and sophisticated aesthetic."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571500" y="2286000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71500" y="762000"/>
            <a:ext cx="8001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4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RedVase: Sistema de Inspeção Visual de Baixo Custo</a:t>
            </a:r>
            <a:endParaRPr b="0" sz="444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2476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Detecção automática de rachaduras em</a:t>
            </a:r>
            <a:r>
              <a:rPr lang="pt-BR" sz="18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 vasos</a:t>
            </a:r>
            <a:endParaRPr sz="18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571500" y="3619500"/>
            <a:ext cx="2667000" cy="952500"/>
            <a:chOff x="571500" y="3619500"/>
            <a:chExt cx="2667000" cy="952500"/>
          </a:xfrm>
        </p:grpSpPr>
        <p:sp>
          <p:nvSpPr>
            <p:cNvPr id="59" name="Google Shape;59;p14"/>
            <p:cNvSpPr/>
            <p:nvPr/>
          </p:nvSpPr>
          <p:spPr>
            <a:xfrm>
              <a:off x="571500" y="3619500"/>
              <a:ext cx="2667000" cy="9525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762000" y="371475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9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EQUIPE DE PROJETO</a:t>
              </a:r>
              <a:endParaRPr b="1" sz="129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t-BR" sz="1295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Leonardo Garcia dos Santos</a:t>
              </a:r>
              <a:endParaRPr b="0" sz="1295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95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Ronaldo Avila de Arruda Junior</a:t>
              </a:r>
              <a:endParaRPr b="0" sz="1295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6858000" y="3324225"/>
            <a:ext cx="1723950" cy="1723913"/>
            <a:chOff x="6858000" y="3324225"/>
            <a:chExt cx="1723950" cy="1723913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50" y="3324225"/>
              <a:ext cx="1438200" cy="14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58000" y="3614738"/>
              <a:ext cx="1433400" cy="1433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ma imagem contendo Logotipo&#10;&#10;O conteúdo gerado por IA pode estar incorreto." id="65" name="Google Shape;6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384" y="4583221"/>
            <a:ext cx="2621470" cy="45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96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Motiva</a:t>
            </a:r>
            <a:r>
              <a:rPr b="0" lang="pt-BR" sz="296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ção: A Realidade da I</a:t>
            </a:r>
            <a:r>
              <a:rPr b="0" lang="pt-BR" sz="296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nspeção Manual</a:t>
            </a:r>
            <a:endParaRPr b="0" sz="296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4857750" y="1333500"/>
            <a:ext cx="3714900" cy="809700"/>
            <a:chOff x="0" y="0"/>
            <a:chExt cx="3714900" cy="8097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3714900" cy="809700"/>
            </a:xfrm>
            <a:prstGeom prst="roundRect">
              <a:avLst>
                <a:gd fmla="val 9411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42875" y="95250"/>
              <a:ext cx="3429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8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PROCESSO MANUAL</a:t>
              </a:r>
              <a:endParaRPr b="1" sz="148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11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Inspeção 100% manual sujeita a fadiga visual e erros que geram prejuízos.</a:t>
              </a:r>
              <a:endParaRPr b="0" sz="111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4857750" y="2286000"/>
            <a:ext cx="3714900" cy="1140381"/>
            <a:chOff x="0" y="0"/>
            <a:chExt cx="3714900" cy="8097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3714900" cy="809700"/>
            </a:xfrm>
            <a:prstGeom prst="roundRect">
              <a:avLst>
                <a:gd fmla="val 9411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142875" y="95250"/>
              <a:ext cx="3429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8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BARREIRA ECONÔMICA DAS ALTERNATIVAS</a:t>
              </a:r>
              <a:endParaRPr b="1" sz="128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11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Soluções industriais custam acima de R$100.000,00, invi</a:t>
              </a:r>
              <a:r>
                <a:rPr lang="pt-BR" sz="111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ável para</a:t>
              </a:r>
              <a:r>
                <a:rPr b="0" lang="pt-BR" sz="111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pequenos fabricantes.</a:t>
              </a:r>
              <a:endParaRPr b="0" sz="111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4857750" y="3569175"/>
            <a:ext cx="3714900" cy="952500"/>
            <a:chOff x="0" y="330675"/>
            <a:chExt cx="3714900" cy="952500"/>
          </a:xfrm>
        </p:grpSpPr>
        <p:sp>
          <p:nvSpPr>
            <p:cNvPr id="79" name="Google Shape;79;p15"/>
            <p:cNvSpPr/>
            <p:nvPr/>
          </p:nvSpPr>
          <p:spPr>
            <a:xfrm>
              <a:off x="0" y="330675"/>
              <a:ext cx="3714900" cy="952500"/>
            </a:xfrm>
            <a:prstGeom prst="roundRect">
              <a:avLst>
                <a:gd fmla="val 8000" name="adj"/>
              </a:avLst>
            </a:prstGeom>
            <a:solidFill>
              <a:srgbClr val="FF525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42875" y="425925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8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OPORTUNIDADE REDVASE</a:t>
              </a:r>
              <a:endParaRPr b="1" sz="148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11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Criar uma solução acessível com Visão Computacional para democratizar a qualidade.</a:t>
              </a:r>
              <a:endParaRPr b="0" sz="111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81" name="Google Shape;81;p15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1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ma imagem contendo Logotipo&#10;&#10;O conteúdo gerado por IA pode estar incorreto." id="82" name="Google Shape;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384" y="4583221"/>
            <a:ext cx="2621470" cy="453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contextoim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150" y="1112700"/>
            <a:ext cx="3185225" cy="34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de para um fundo escuro e a fonte para times new romam caixa alta no titulo, que vai ser &quot;Pipeline do SPV&quot;" id="88" name="Google Shape;88;p16"/>
          <p:cNvPicPr preferRelativeResize="0"/>
          <p:nvPr/>
        </p:nvPicPr>
        <p:blipFill rotWithShape="1">
          <a:blip r:embed="rId3">
            <a:alphaModFix/>
          </a:blip>
          <a:srcRect b="3707" l="0" r="0" t="0"/>
          <a:stretch/>
        </p:blipFill>
        <p:spPr>
          <a:xfrm>
            <a:off x="-39113" y="-50038"/>
            <a:ext cx="9222225" cy="524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Logotipo&#10;&#10;O conteúdo gerado por IA pode estar incorreto." id="89" name="Google Shape;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267" y="4689521"/>
            <a:ext cx="2621470" cy="45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219" r="219" t="0"/>
          <a:stretch/>
        </p:blipFill>
        <p:spPr>
          <a:xfrm>
            <a:off x="0" y="21431"/>
            <a:ext cx="9144001" cy="513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Setu</a:t>
            </a:r>
            <a:r>
              <a:rPr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Necessário</a:t>
            </a:r>
            <a:endParaRPr b="0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>
            <a:off x="6667500" y="4619625"/>
            <a:ext cx="2095500" cy="3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WhatsApp Image 2026-04-30 at 10.45.38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1563" y="1239787"/>
            <a:ext cx="5200874" cy="322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Demonstração em Vídeo</a:t>
            </a:r>
            <a:endParaRPr b="0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>
            <a:off x="6667500" y="4619625"/>
            <a:ext cx="2095500" cy="3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 title="Screencast from 2026-04-30 10-06-48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1399" y="1225125"/>
            <a:ext cx="6041199" cy="33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2667000" y="3048000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20"/>
          <p:cNvGrpSpPr/>
          <p:nvPr/>
        </p:nvGrpSpPr>
        <p:grpSpPr>
          <a:xfrm>
            <a:off x="762000" y="2095500"/>
            <a:ext cx="7620000" cy="1714500"/>
            <a:chOff x="762000" y="2095500"/>
            <a:chExt cx="7620000" cy="1714500"/>
          </a:xfrm>
        </p:grpSpPr>
        <p:sp>
          <p:nvSpPr>
            <p:cNvPr id="120" name="Google Shape;120;p20"/>
            <p:cNvSpPr txBox="1"/>
            <p:nvPr/>
          </p:nvSpPr>
          <p:spPr>
            <a:xfrm>
              <a:off x="762000" y="2095500"/>
              <a:ext cx="762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4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Demonstração Experimental</a:t>
              </a:r>
              <a:endParaRPr b="0" sz="4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762000" y="32385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22" name="Google Shape;122;p20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>
            <a:off x="6667500" y="4619625"/>
            <a:ext cx="2095500" cy="3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775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Análise dos Resultados</a:t>
            </a:r>
            <a:r>
              <a:rPr b="0" lang="pt-BR" sz="2775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: Validação e Usabilidade</a:t>
            </a:r>
            <a:endParaRPr b="0" sz="2775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0" name="Google Shape;130;p21"/>
          <p:cNvGrpSpPr/>
          <p:nvPr/>
        </p:nvGrpSpPr>
        <p:grpSpPr>
          <a:xfrm>
            <a:off x="5409400" y="1229300"/>
            <a:ext cx="3269112" cy="1131504"/>
            <a:chOff x="0" y="0"/>
            <a:chExt cx="3714900" cy="1285800"/>
          </a:xfrm>
        </p:grpSpPr>
        <p:sp>
          <p:nvSpPr>
            <p:cNvPr id="131" name="Google Shape;131;p21"/>
            <p:cNvSpPr/>
            <p:nvPr/>
          </p:nvSpPr>
          <p:spPr>
            <a:xfrm>
              <a:off x="0" y="0"/>
              <a:ext cx="3714900" cy="1285800"/>
            </a:xfrm>
            <a:prstGeom prst="roundRect">
              <a:avLst>
                <a:gd fmla="val 592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1"/>
            <p:cNvSpPr txBox="1"/>
            <p:nvPr/>
          </p:nvSpPr>
          <p:spPr>
            <a:xfrm>
              <a:off x="142875" y="142875"/>
              <a:ext cx="3429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2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EFICÁCIA TÉCNICA</a:t>
              </a:r>
              <a:endParaRPr b="1" sz="132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96"/>
                </a:spcBef>
                <a:spcAft>
                  <a:spcPts val="0"/>
                </a:spcAft>
                <a:buNone/>
              </a:pPr>
              <a:r>
                <a:rPr b="0" lang="pt-BR" sz="968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sistema obteve sucesso na detecção em tempo real e na interatividade da calibração. O filtro BlackHat realçou microfissuras conforme a modelagem teórica.</a:t>
              </a:r>
              <a:endParaRPr b="0" sz="968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33" name="Google Shape;133;p21"/>
          <p:cNvGrpSpPr/>
          <p:nvPr/>
        </p:nvGrpSpPr>
        <p:grpSpPr>
          <a:xfrm>
            <a:off x="5409400" y="2571025"/>
            <a:ext cx="3331548" cy="1343166"/>
            <a:chOff x="577374" y="-281709"/>
            <a:chExt cx="3544200" cy="1428900"/>
          </a:xfrm>
        </p:grpSpPr>
        <p:sp>
          <p:nvSpPr>
            <p:cNvPr id="134" name="Google Shape;134;p21"/>
            <p:cNvSpPr/>
            <p:nvPr/>
          </p:nvSpPr>
          <p:spPr>
            <a:xfrm>
              <a:off x="577374" y="-281709"/>
              <a:ext cx="3544200" cy="1428900"/>
            </a:xfrm>
            <a:prstGeom prst="roundRect">
              <a:avLst>
                <a:gd fmla="val 5333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6"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713680" y="-138833"/>
              <a:ext cx="3271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1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USABILIDADE</a:t>
              </a:r>
              <a:endParaRPr b="1" sz="141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23"/>
                </a:spcBef>
                <a:spcAft>
                  <a:spcPts val="0"/>
                </a:spcAft>
                <a:buNone/>
              </a:pPr>
              <a:r>
                <a:rPr b="0" lang="pt-BR" sz="1034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Aprovação com nota máxima (5) em facilidade de uso e aprendizado rápido. Os usuários destacaram a agilidade da interface intuitiva.</a:t>
              </a:r>
              <a:endParaRPr b="0" sz="1034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46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FACILIDADE DE USO</a:t>
              </a:r>
              <a:endParaRPr b="1" sz="846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36" name="Google Shape;136;p21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p21" title="Questionar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75" y="1230025"/>
            <a:ext cx="4843925" cy="286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Logotipo&#10;&#10;O conteúdo gerado por IA pode estar incorreto." id="138" name="Google Shape;1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384" y="4583221"/>
            <a:ext cx="2621470" cy="45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pt-BR" sz="2775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 dos Usuários: Percepções Qualitativas</a:t>
            </a:r>
            <a:endParaRPr b="0" sz="2775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5" name="Google Shape;145;p22"/>
          <p:cNvGrpSpPr/>
          <p:nvPr/>
        </p:nvGrpSpPr>
        <p:grpSpPr>
          <a:xfrm>
            <a:off x="571500" y="1333500"/>
            <a:ext cx="3905400" cy="3143400"/>
            <a:chOff x="571500" y="1333500"/>
            <a:chExt cx="3905400" cy="3143400"/>
          </a:xfrm>
        </p:grpSpPr>
        <p:sp>
          <p:nvSpPr>
            <p:cNvPr id="146" name="Google Shape;146;p22"/>
            <p:cNvSpPr/>
            <p:nvPr/>
          </p:nvSpPr>
          <p:spPr>
            <a:xfrm>
              <a:off x="571500" y="133350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 txBox="1"/>
            <p:nvPr/>
          </p:nvSpPr>
          <p:spPr>
            <a:xfrm>
              <a:off x="809625" y="157162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pt-BR" sz="129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que mais agradou (Agilidade e Precisão)</a:t>
              </a:r>
              <a:endParaRPr b="1" sz="129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8" name="Google Shape;148;p22"/>
            <p:cNvSpPr txBox="1"/>
            <p:nvPr/>
          </p:nvSpPr>
          <p:spPr>
            <a:xfrm>
              <a:off x="809625" y="1952625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"O resultado em tempo real."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"Rápida detecção e fácil de ser testado."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"Intuitivo e resolve problema de produção."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"Achei ele bem preciso."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49" name="Google Shape;149;p22"/>
          <p:cNvGrpSpPr/>
          <p:nvPr/>
        </p:nvGrpSpPr>
        <p:grpSpPr>
          <a:xfrm>
            <a:off x="4667250" y="1333500"/>
            <a:ext cx="3905400" cy="3143400"/>
            <a:chOff x="4667250" y="1333500"/>
            <a:chExt cx="3905400" cy="3143400"/>
          </a:xfrm>
        </p:grpSpPr>
        <p:sp>
          <p:nvSpPr>
            <p:cNvPr id="150" name="Google Shape;150;p22"/>
            <p:cNvSpPr/>
            <p:nvPr/>
          </p:nvSpPr>
          <p:spPr>
            <a:xfrm>
              <a:off x="4667250" y="133350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5252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 txBox="1"/>
            <p:nvPr/>
          </p:nvSpPr>
          <p:spPr>
            <a:xfrm>
              <a:off x="4905375" y="157162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pt-BR" sz="129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que menos agradou (Limitações Técnicas)</a:t>
              </a:r>
              <a:endParaRPr b="1" sz="129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2" name="Google Shape;152;p22"/>
            <p:cNvSpPr txBox="1"/>
            <p:nvPr/>
          </p:nvSpPr>
          <p:spPr>
            <a:xfrm>
              <a:off x="4905375" y="1952625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"A limitação de cores dos vasos. Funciona apenas para vasos de um tipo, mas pode facilmente ser incrementado."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"Se aumentar demais a sensibilidade, o sistema falha."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pt-BR" sz="12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"Raramente detecta falhas não consistentes."</a:t>
              </a:r>
              <a:endParaRPr b="0" i="1" sz="12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53" name="Google Shape;153;p22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pt-BR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324" y="4583144"/>
            <a:ext cx="2621400" cy="4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Limitações Técnicas e Desafios de Precisão</a:t>
            </a:r>
            <a:endParaRPr b="0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>
            <a:off x="571500" y="1333500"/>
            <a:ext cx="3905400" cy="1942800"/>
            <a:chOff x="0" y="0"/>
            <a:chExt cx="3905400" cy="1942800"/>
          </a:xfrm>
        </p:grpSpPr>
        <p:sp>
          <p:nvSpPr>
            <p:cNvPr id="162" name="Google Shape;162;p23"/>
            <p:cNvSpPr/>
            <p:nvPr/>
          </p:nvSpPr>
          <p:spPr>
            <a:xfrm>
              <a:off x="0" y="0"/>
              <a:ext cx="3905400" cy="1942800"/>
            </a:xfrm>
            <a:prstGeom prst="roundRect">
              <a:avLst>
                <a:gd fmla="val 363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Falsos Positivos e Sombras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" name="Google Shape;164;p23"/>
            <p:cNvSpPr txBox="1"/>
            <p:nvPr/>
          </p:nvSpPr>
          <p:spPr>
            <a:xfrm>
              <a:off x="190500" y="571500"/>
              <a:ext cx="352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detecção sofre inconsistências críticas devido à projeção de sombras. O sistema interpreta variações de luminosidade como anomalias, resultando em falhas de validação mesmo em peças íntegras.</a:t>
              </a:r>
              <a:endParaRPr b="0" sz="11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65" name="Google Shape;165;p23"/>
          <p:cNvGrpSpPr/>
          <p:nvPr/>
        </p:nvGrpSpPr>
        <p:grpSpPr>
          <a:xfrm>
            <a:off x="4667250" y="1333500"/>
            <a:ext cx="3905400" cy="1476300"/>
            <a:chOff x="0" y="0"/>
            <a:chExt cx="3905400" cy="1476300"/>
          </a:xfrm>
        </p:grpSpPr>
        <p:sp>
          <p:nvSpPr>
            <p:cNvPr id="166" name="Google Shape;166;p23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Controle de Sensibilidade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8" name="Google Shape;168;p23"/>
            <p:cNvSpPr txBox="1"/>
            <p:nvPr/>
          </p:nvSpPr>
          <p:spPr>
            <a:xfrm>
              <a:off x="190500" y="571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ajuste manual via interface exige </a:t>
              </a:r>
              <a:r>
                <a:rPr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cautela</a:t>
              </a: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. Níveis excessivos de sensibilidade no filtro BlackHat saturam a detecção, gerando ruído visual e distorcendo os limiares de identificação.</a:t>
              </a:r>
              <a:endParaRPr b="0" sz="11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69" name="Google Shape;169;p23"/>
          <p:cNvGrpSpPr/>
          <p:nvPr/>
        </p:nvGrpSpPr>
        <p:grpSpPr>
          <a:xfrm>
            <a:off x="4667250" y="3000375"/>
            <a:ext cx="3905400" cy="1476300"/>
            <a:chOff x="0" y="0"/>
            <a:chExt cx="3905400" cy="1476300"/>
          </a:xfrm>
        </p:grpSpPr>
        <p:sp>
          <p:nvSpPr>
            <p:cNvPr id="170" name="Google Shape;170;p23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3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Limitação da Paleta de Cores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2" name="Google Shape;172;p23"/>
            <p:cNvSpPr txBox="1"/>
            <p:nvPr/>
          </p:nvSpPr>
          <p:spPr>
            <a:xfrm>
              <a:off x="190500" y="57150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segmentação via HSV </a:t>
              </a:r>
              <a:r>
                <a:rPr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restringe a captura</a:t>
              </a: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a tons específicos. O protótipo atual não possui versatilidade para diferentes acabamentos, limitando sua aplicação comercial para superf</a:t>
              </a:r>
              <a:r>
                <a:rPr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ícies já pintadas</a:t>
              </a:r>
              <a:r>
                <a:rPr b="0" lang="pt-BR" sz="110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.</a:t>
              </a:r>
              <a:endParaRPr b="0" sz="11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73" name="Google Shape;173;p23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4">
            <a:alphaModFix/>
          </a:blip>
          <a:srcRect b="661" l="0" r="0" t="651"/>
          <a:stretch/>
        </p:blipFill>
        <p:spPr>
          <a:xfrm>
            <a:off x="6400800" y="4581525"/>
            <a:ext cx="2619300" cy="4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Conclusões: Viabilidade e Próximos Passos</a:t>
            </a:r>
            <a:endParaRPr b="0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4"/>
          <p:cNvGrpSpPr/>
          <p:nvPr/>
        </p:nvGrpSpPr>
        <p:grpSpPr>
          <a:xfrm>
            <a:off x="571500" y="1238250"/>
            <a:ext cx="3905400" cy="1476300"/>
            <a:chOff x="571500" y="1238250"/>
            <a:chExt cx="3905400" cy="1476300"/>
          </a:xfrm>
        </p:grpSpPr>
        <p:pic>
          <p:nvPicPr>
            <p:cNvPr id="182" name="Google Shape;18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238250"/>
              <a:ext cx="3905400" cy="14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4"/>
            <p:cNvSpPr txBox="1"/>
            <p:nvPr/>
          </p:nvSpPr>
          <p:spPr>
            <a:xfrm>
              <a:off x="762000" y="138112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OBJETIVOS ALCANÇADOS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05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prova de conceito comprovou a viabilidade de automatizar a detecção de rachaduras com hardware padrão e OpenCV. O sistema mitiga a fadiga visual ao transferir a decisão da inspeção manual para o digital.</a:t>
              </a:r>
              <a:endParaRPr b="0" sz="105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84" name="Google Shape;184;p24"/>
          <p:cNvGrpSpPr/>
          <p:nvPr/>
        </p:nvGrpSpPr>
        <p:grpSpPr>
          <a:xfrm>
            <a:off x="4667250" y="1238250"/>
            <a:ext cx="3905400" cy="1476300"/>
            <a:chOff x="4667250" y="1238250"/>
            <a:chExt cx="3905400" cy="1476300"/>
          </a:xfrm>
        </p:grpSpPr>
        <p:pic>
          <p:nvPicPr>
            <p:cNvPr id="185" name="Google Shape;18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0" y="1238250"/>
              <a:ext cx="3905400" cy="14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4"/>
            <p:cNvSpPr txBox="1"/>
            <p:nvPr/>
          </p:nvSpPr>
          <p:spPr>
            <a:xfrm>
              <a:off x="4857750" y="138112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DESEMPENHO E USABILIDADE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05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Resultados positivos em tempo real e aceitação irrestrita dos usuários. A filtragem geométrica isola trincas e descarta ruídos da textura da cerâmica com sucesso.</a:t>
              </a:r>
              <a:endParaRPr b="0" sz="105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87" name="Google Shape;187;p24"/>
          <p:cNvGrpSpPr/>
          <p:nvPr/>
        </p:nvGrpSpPr>
        <p:grpSpPr>
          <a:xfrm>
            <a:off x="571500" y="2857500"/>
            <a:ext cx="3905400" cy="1476300"/>
            <a:chOff x="571500" y="2857500"/>
            <a:chExt cx="3905400" cy="1476300"/>
          </a:xfrm>
        </p:grpSpPr>
        <p:pic>
          <p:nvPicPr>
            <p:cNvPr id="188" name="Google Shape;18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2857500"/>
              <a:ext cx="3905400" cy="14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4"/>
            <p:cNvSpPr txBox="1"/>
            <p:nvPr/>
          </p:nvSpPr>
          <p:spPr>
            <a:xfrm>
              <a:off x="762000" y="300037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LIMITAÇÕES TÉCNICAS</a:t>
              </a:r>
              <a:endParaRPr b="1" sz="1400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pt-BR" sz="105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erosão morfológica ignora a integridade das bordas. A calibração de cor e sensibilidade sofre com sombras projetadas, gerando inconsistências que limitam a adoção comercial imediata.</a:t>
              </a:r>
              <a:endParaRPr b="0" sz="105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90" name="Google Shape;190;p24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324" y="4583144"/>
            <a:ext cx="2621400" cy="4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571500" y="1000125"/>
            <a:ext cx="3810000" cy="381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Contatos e Links do Projeto</a:t>
            </a:r>
            <a:endParaRPr b="0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8" name="Google Shape;198;p25"/>
          <p:cNvGrpSpPr/>
          <p:nvPr/>
        </p:nvGrpSpPr>
        <p:grpSpPr>
          <a:xfrm>
            <a:off x="571500" y="1524000"/>
            <a:ext cx="3905400" cy="1143000"/>
            <a:chOff x="571500" y="1524000"/>
            <a:chExt cx="3905400" cy="1143000"/>
          </a:xfrm>
        </p:grpSpPr>
        <p:sp>
          <p:nvSpPr>
            <p:cNvPr id="199" name="Google Shape;199;p25"/>
            <p:cNvSpPr/>
            <p:nvPr/>
          </p:nvSpPr>
          <p:spPr>
            <a:xfrm>
              <a:off x="571500" y="1524000"/>
              <a:ext cx="3905400" cy="11430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809625" y="1666875"/>
              <a:ext cx="342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8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REPOSITÓRIO GITHUB</a:t>
              </a:r>
              <a:endParaRPr b="1" sz="108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t-BR" sz="93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Acesse o código-fonte, documentação e histórico de versões do sistema RedVase.</a:t>
              </a:r>
              <a:endParaRPr b="0" sz="93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pt-BR" sz="93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github.com/Ragnavald/PDI-Processamento-Digital-de-Imagem</a:t>
              </a:r>
              <a:endParaRPr b="1" sz="93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01" name="Google Shape;201;p25"/>
          <p:cNvGrpSpPr/>
          <p:nvPr/>
        </p:nvGrpSpPr>
        <p:grpSpPr>
          <a:xfrm>
            <a:off x="4667257" y="1524000"/>
            <a:ext cx="2199131" cy="1143000"/>
            <a:chOff x="4667250" y="1524000"/>
            <a:chExt cx="3905400" cy="1143000"/>
          </a:xfrm>
        </p:grpSpPr>
        <p:sp>
          <p:nvSpPr>
            <p:cNvPr id="202" name="Google Shape;202;p25"/>
            <p:cNvSpPr/>
            <p:nvPr/>
          </p:nvSpPr>
          <p:spPr>
            <a:xfrm>
              <a:off x="4667250" y="1524000"/>
              <a:ext cx="3905400" cy="11430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4905375" y="1666875"/>
              <a:ext cx="342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8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DESENVOLVEDORES</a:t>
              </a:r>
              <a:endParaRPr b="1" sz="108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t-BR" sz="93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Leonardo Garcia dos Santos</a:t>
              </a:r>
              <a:endParaRPr b="0" sz="93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93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Ronaldo Avila de Arruda Junior</a:t>
              </a:r>
              <a:endParaRPr b="0" sz="93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571551" y="2857626"/>
            <a:ext cx="6295187" cy="1193292"/>
            <a:chOff x="571500" y="2857500"/>
            <a:chExt cx="8001000" cy="952500"/>
          </a:xfrm>
        </p:grpSpPr>
        <p:sp>
          <p:nvSpPr>
            <p:cNvPr id="205" name="Google Shape;205;p25"/>
            <p:cNvSpPr/>
            <p:nvPr/>
          </p:nvSpPr>
          <p:spPr>
            <a:xfrm>
              <a:off x="571500" y="2857500"/>
              <a:ext cx="8001000" cy="9525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809625" y="3000375"/>
              <a:ext cx="7524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85">
                  <a:solidFill>
                    <a:srgbClr val="FF525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DOCUMENTAÇÃO FINAL</a:t>
              </a:r>
              <a:endParaRPr b="1" sz="1085">
                <a:solidFill>
                  <a:srgbClr val="FF525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t-BR" sz="930">
                  <a:solidFill>
                    <a:srgbClr val="E0E0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 Relatório Final do Trabalho (RFT) detalha toda a fundamentação teórica, implementação do filtro BlackHat e análise dos resultados experimentais.</a:t>
              </a:r>
              <a:endParaRPr b="0" sz="93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07" name="Google Shape;207;p25"/>
          <p:cNvSpPr txBox="1"/>
          <p:nvPr/>
        </p:nvSpPr>
        <p:spPr>
          <a:xfrm>
            <a:off x="5715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E0E0E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Processamento Digital de Imagens | 2026</a:t>
            </a:r>
            <a:endParaRPr b="0" sz="1000">
              <a:solidFill>
                <a:srgbClr val="E0E0E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4">
            <a:alphaModFix/>
          </a:blip>
          <a:srcRect b="0" l="397" r="387" t="0"/>
          <a:stretch/>
        </p:blipFill>
        <p:spPr>
          <a:xfrm>
            <a:off x="6400800" y="4581525"/>
            <a:ext cx="2619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6750" y="1852975"/>
            <a:ext cx="1828075" cy="18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